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60" r:id="rId5"/>
    <p:sldId id="262" r:id="rId6"/>
    <p:sldId id="263" r:id="rId7"/>
    <p:sldId id="261" r:id="rId8"/>
    <p:sldId id="264" r:id="rId9"/>
    <p:sldId id="265" r:id="rId10"/>
    <p:sldId id="269" r:id="rId11"/>
    <p:sldId id="270" r:id="rId12"/>
    <p:sldId id="271" r:id="rId13"/>
    <p:sldId id="273" r:id="rId14"/>
    <p:sldId id="266" r:id="rId15"/>
    <p:sldId id="267" r:id="rId16"/>
    <p:sldId id="268" r:id="rId17"/>
    <p:sldId id="259" r:id="rId18"/>
  </p:sldIdLst>
  <p:sldSz cx="12192000" cy="6858000"/>
  <p:notesSz cx="6858000" cy="9144000"/>
  <p:embeddedFontLst>
    <p:embeddedFont>
      <p:font typeface="Lato Black" panose="020F0502020204030203" pitchFamily="34" charset="0"/>
      <p:bold r:id="rId20"/>
      <p:boldItalic r:id="rId21"/>
    </p:embeddedFont>
    <p:embeddedFont>
      <p:font typeface="Libre Baskerville" panose="02000000000000000000" pitchFamily="2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6" roundtripDataSignature="AMtx7mhOJMYRtMJHTmKh9+lTrbj+exko0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A97D3A-C24E-440C-9F21-2103E7483008}" v="17" dt="2026-09-08T09:30:19.442"/>
    <p1510:client id="{F9F68104-DE3F-4F8C-B9DF-A8219CD1816F}" v="9" dt="2026-09-07T10:28:57.63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ujana sri uppu" userId="52447b2075235fe0" providerId="LiveId" clId="{7F52AD5E-645D-48B7-9B96-1EF480CA9DD9}"/>
    <pc:docChg chg="undo custSel addSld delSld modSld">
      <pc:chgData name="srujana sri uppu" userId="52447b2075235fe0" providerId="LiveId" clId="{7F52AD5E-645D-48B7-9B96-1EF480CA9DD9}" dt="2026-09-08T09:34:37" v="403" actId="2711"/>
      <pc:docMkLst>
        <pc:docMk/>
      </pc:docMkLst>
      <pc:sldChg chg="modSp mod">
        <pc:chgData name="srujana sri uppu" userId="52447b2075235fe0" providerId="LiveId" clId="{7F52AD5E-645D-48B7-9B96-1EF480CA9DD9}" dt="2026-09-07T10:31:15.312" v="103" actId="14100"/>
        <pc:sldMkLst>
          <pc:docMk/>
          <pc:sldMk cId="0" sldId="256"/>
        </pc:sldMkLst>
        <pc:picChg chg="mod">
          <ac:chgData name="srujana sri uppu" userId="52447b2075235fe0" providerId="LiveId" clId="{7F52AD5E-645D-48B7-9B96-1EF480CA9DD9}" dt="2026-09-07T10:31:15.312" v="103" actId="14100"/>
          <ac:picMkLst>
            <pc:docMk/>
            <pc:sldMk cId="0" sldId="256"/>
            <ac:picMk id="98" creationId="{00000000-0000-0000-0000-000000000000}"/>
          </ac:picMkLst>
        </pc:picChg>
      </pc:sldChg>
      <pc:sldChg chg="modSp mod">
        <pc:chgData name="srujana sri uppu" userId="52447b2075235fe0" providerId="LiveId" clId="{7F52AD5E-645D-48B7-9B96-1EF480CA9DD9}" dt="2026-09-07T10:28:38.140" v="100" actId="20577"/>
        <pc:sldMkLst>
          <pc:docMk/>
          <pc:sldMk cId="0" sldId="257"/>
        </pc:sldMkLst>
        <pc:spChg chg="mod">
          <ac:chgData name="srujana sri uppu" userId="52447b2075235fe0" providerId="LiveId" clId="{7F52AD5E-645D-48B7-9B96-1EF480CA9DD9}" dt="2026-09-07T10:28:38.140" v="100" actId="20577"/>
          <ac:spMkLst>
            <pc:docMk/>
            <pc:sldMk cId="0" sldId="257"/>
            <ac:spMk id="2" creationId="{0138F777-CD89-7066-DFF1-0C9BF6F949E6}"/>
          </ac:spMkLst>
        </pc:spChg>
        <pc:spChg chg="mod">
          <ac:chgData name="srujana sri uppu" userId="52447b2075235fe0" providerId="LiveId" clId="{7F52AD5E-645D-48B7-9B96-1EF480CA9DD9}" dt="2026-09-07T10:24:07.481" v="89" actId="20577"/>
          <ac:spMkLst>
            <pc:docMk/>
            <pc:sldMk cId="0" sldId="257"/>
            <ac:spMk id="3" creationId="{F0AC247A-CBEB-369B-FF7B-7EF083A78D09}"/>
          </ac:spMkLst>
        </pc:spChg>
        <pc:spChg chg="mod">
          <ac:chgData name="srujana sri uppu" userId="52447b2075235fe0" providerId="LiveId" clId="{7F52AD5E-645D-48B7-9B96-1EF480CA9DD9}" dt="2026-09-07T10:25:21.510" v="95" actId="20577"/>
          <ac:spMkLst>
            <pc:docMk/>
            <pc:sldMk cId="0" sldId="257"/>
            <ac:spMk id="104" creationId="{00000000-0000-0000-0000-000000000000}"/>
          </ac:spMkLst>
        </pc:spChg>
      </pc:sldChg>
      <pc:sldChg chg="modSp mod">
        <pc:chgData name="srujana sri uppu" userId="52447b2075235fe0" providerId="LiveId" clId="{7F52AD5E-645D-48B7-9B96-1EF480CA9DD9}" dt="2026-09-07T10:26:56.112" v="97" actId="1036"/>
        <pc:sldMkLst>
          <pc:docMk/>
          <pc:sldMk cId="3869289001" sldId="262"/>
        </pc:sldMkLst>
        <pc:spChg chg="mod">
          <ac:chgData name="srujana sri uppu" userId="52447b2075235fe0" providerId="LiveId" clId="{7F52AD5E-645D-48B7-9B96-1EF480CA9DD9}" dt="2026-09-07T10:26:56.112" v="97" actId="1036"/>
          <ac:spMkLst>
            <pc:docMk/>
            <pc:sldMk cId="3869289001" sldId="262"/>
            <ac:spMk id="3" creationId="{D6821BD3-9C7D-A32C-495C-6FC16B016B97}"/>
          </ac:spMkLst>
        </pc:spChg>
      </pc:sldChg>
      <pc:sldChg chg="modSp mod">
        <pc:chgData name="srujana sri uppu" userId="52447b2075235fe0" providerId="LiveId" clId="{7F52AD5E-645D-48B7-9B96-1EF480CA9DD9}" dt="2026-09-07T10:32:26.551" v="104" actId="14100"/>
        <pc:sldMkLst>
          <pc:docMk/>
          <pc:sldMk cId="4072362031" sldId="263"/>
        </pc:sldMkLst>
        <pc:spChg chg="mod">
          <ac:chgData name="srujana sri uppu" userId="52447b2075235fe0" providerId="LiveId" clId="{7F52AD5E-645D-48B7-9B96-1EF480CA9DD9}" dt="2026-09-07T10:32:26.551" v="104" actId="14100"/>
          <ac:spMkLst>
            <pc:docMk/>
            <pc:sldMk cId="4072362031" sldId="263"/>
            <ac:spMk id="3" creationId="{D4166CEF-25AA-AF40-A124-08845A468903}"/>
          </ac:spMkLst>
        </pc:spChg>
      </pc:sldChg>
      <pc:sldChg chg="addSp delSp modSp new mod">
        <pc:chgData name="srujana sri uppu" userId="52447b2075235fe0" providerId="LiveId" clId="{7F52AD5E-645D-48B7-9B96-1EF480CA9DD9}" dt="2026-09-08T09:32:49.202" v="398" actId="113"/>
        <pc:sldMkLst>
          <pc:docMk/>
          <pc:sldMk cId="540007972" sldId="269"/>
        </pc:sldMkLst>
        <pc:spChg chg="mod">
          <ac:chgData name="srujana sri uppu" userId="52447b2075235fe0" providerId="LiveId" clId="{7F52AD5E-645D-48B7-9B96-1EF480CA9DD9}" dt="2026-09-08T08:50:37.064" v="115" actId="20577"/>
          <ac:spMkLst>
            <pc:docMk/>
            <pc:sldMk cId="540007972" sldId="269"/>
            <ac:spMk id="2" creationId="{46CF13DE-7FCE-EB37-CA3E-A0FBBA91D9D9}"/>
          </ac:spMkLst>
        </pc:spChg>
        <pc:spChg chg="mod">
          <ac:chgData name="srujana sri uppu" userId="52447b2075235fe0" providerId="LiveId" clId="{7F52AD5E-645D-48B7-9B96-1EF480CA9DD9}" dt="2026-09-08T08:52:12.993" v="136" actId="20577"/>
          <ac:spMkLst>
            <pc:docMk/>
            <pc:sldMk cId="540007972" sldId="269"/>
            <ac:spMk id="3" creationId="{3DE5BCD3-3B5E-836E-0EAF-82F5F981FB7C}"/>
          </ac:spMkLst>
        </pc:spChg>
        <pc:spChg chg="add del mod">
          <ac:chgData name="srujana sri uppu" userId="52447b2075235fe0" providerId="LiveId" clId="{7F52AD5E-645D-48B7-9B96-1EF480CA9DD9}" dt="2026-09-08T08:53:20.890" v="151"/>
          <ac:spMkLst>
            <pc:docMk/>
            <pc:sldMk cId="540007972" sldId="269"/>
            <ac:spMk id="8" creationId="{8441C28E-8B0B-410F-1A27-FFDB3A77AED2}"/>
          </ac:spMkLst>
        </pc:spChg>
        <pc:spChg chg="add del mod">
          <ac:chgData name="srujana sri uppu" userId="52447b2075235fe0" providerId="LiveId" clId="{7F52AD5E-645D-48B7-9B96-1EF480CA9DD9}" dt="2026-09-08T08:53:20.894" v="153"/>
          <ac:spMkLst>
            <pc:docMk/>
            <pc:sldMk cId="540007972" sldId="269"/>
            <ac:spMk id="9" creationId="{9EE6D4F2-E828-D362-3245-9FF4DD835D2C}"/>
          </ac:spMkLst>
        </pc:spChg>
        <pc:spChg chg="add del mod">
          <ac:chgData name="srujana sri uppu" userId="52447b2075235fe0" providerId="LiveId" clId="{7F52AD5E-645D-48B7-9B96-1EF480CA9DD9}" dt="2026-09-08T08:53:20.881" v="149" actId="478"/>
          <ac:spMkLst>
            <pc:docMk/>
            <pc:sldMk cId="540007972" sldId="269"/>
            <ac:spMk id="10" creationId="{D7B2E03E-A7AD-D50A-2646-7DDAC66C3303}"/>
          </ac:spMkLst>
        </pc:spChg>
        <pc:spChg chg="add mod">
          <ac:chgData name="srujana sri uppu" userId="52447b2075235fe0" providerId="LiveId" clId="{7F52AD5E-645D-48B7-9B96-1EF480CA9DD9}" dt="2026-09-08T09:32:49.202" v="398" actId="113"/>
          <ac:spMkLst>
            <pc:docMk/>
            <pc:sldMk cId="540007972" sldId="269"/>
            <ac:spMk id="13" creationId="{763D620A-4715-D2ED-5693-68EE33403EFE}"/>
          </ac:spMkLst>
        </pc:spChg>
        <pc:picChg chg="add del mod">
          <ac:chgData name="srujana sri uppu" userId="52447b2075235fe0" providerId="LiveId" clId="{7F52AD5E-645D-48B7-9B96-1EF480CA9DD9}" dt="2026-09-08T08:51:26.803" v="121" actId="22"/>
          <ac:picMkLst>
            <pc:docMk/>
            <pc:sldMk cId="540007972" sldId="269"/>
            <ac:picMk id="5" creationId="{D2EBFCB1-0531-7047-1997-F00ABCDB59C5}"/>
          </ac:picMkLst>
        </pc:picChg>
        <pc:picChg chg="add mod">
          <ac:chgData name="srujana sri uppu" userId="52447b2075235fe0" providerId="LiveId" clId="{7F52AD5E-645D-48B7-9B96-1EF480CA9DD9}" dt="2026-09-08T08:56:59.447" v="195" actId="1076"/>
          <ac:picMkLst>
            <pc:docMk/>
            <pc:sldMk cId="540007972" sldId="269"/>
            <ac:picMk id="7" creationId="{436902E4-04A1-4BE5-6549-901415EA992A}"/>
          </ac:picMkLst>
        </pc:picChg>
        <pc:picChg chg="add mod">
          <ac:chgData name="srujana sri uppu" userId="52447b2075235fe0" providerId="LiveId" clId="{7F52AD5E-645D-48B7-9B96-1EF480CA9DD9}" dt="2026-09-08T08:53:30.820" v="155" actId="1076"/>
          <ac:picMkLst>
            <pc:docMk/>
            <pc:sldMk cId="540007972" sldId="269"/>
            <ac:picMk id="12" creationId="{244ABBB9-DE57-AC5F-A361-591F41F77E4D}"/>
          </ac:picMkLst>
        </pc:picChg>
      </pc:sldChg>
      <pc:sldChg chg="addSp modSp new mod">
        <pc:chgData name="srujana sri uppu" userId="52447b2075235fe0" providerId="LiveId" clId="{7F52AD5E-645D-48B7-9B96-1EF480CA9DD9}" dt="2026-09-08T09:33:03.981" v="399" actId="1076"/>
        <pc:sldMkLst>
          <pc:docMk/>
          <pc:sldMk cId="2793678344" sldId="270"/>
        </pc:sldMkLst>
        <pc:spChg chg="mod">
          <ac:chgData name="srujana sri uppu" userId="52447b2075235fe0" providerId="LiveId" clId="{7F52AD5E-645D-48B7-9B96-1EF480CA9DD9}" dt="2026-09-08T09:04:32.521" v="204" actId="207"/>
          <ac:spMkLst>
            <pc:docMk/>
            <pc:sldMk cId="2793678344" sldId="270"/>
            <ac:spMk id="2" creationId="{F1F8DD97-6013-C0AC-24F7-F842B6AB3CA5}"/>
          </ac:spMkLst>
        </pc:spChg>
        <pc:spChg chg="add mod">
          <ac:chgData name="srujana sri uppu" userId="52447b2075235fe0" providerId="LiveId" clId="{7F52AD5E-645D-48B7-9B96-1EF480CA9DD9}" dt="2026-09-08T09:33:03.981" v="399" actId="1076"/>
          <ac:spMkLst>
            <pc:docMk/>
            <pc:sldMk cId="2793678344" sldId="270"/>
            <ac:spMk id="8" creationId="{48970D21-B8BA-5A71-EC8C-CA7B1504B301}"/>
          </ac:spMkLst>
        </pc:spChg>
        <pc:picChg chg="add mod">
          <ac:chgData name="srujana sri uppu" userId="52447b2075235fe0" providerId="LiveId" clId="{7F52AD5E-645D-48B7-9B96-1EF480CA9DD9}" dt="2026-09-08T09:07:17.215" v="208" actId="14100"/>
          <ac:picMkLst>
            <pc:docMk/>
            <pc:sldMk cId="2793678344" sldId="270"/>
            <ac:picMk id="5" creationId="{D65C13B6-01D7-51F8-552B-8A9A18A49DF1}"/>
          </ac:picMkLst>
        </pc:picChg>
        <pc:picChg chg="add mod">
          <ac:chgData name="srujana sri uppu" userId="52447b2075235fe0" providerId="LiveId" clId="{7F52AD5E-645D-48B7-9B96-1EF480CA9DD9}" dt="2026-09-08T09:07:36.043" v="210" actId="1076"/>
          <ac:picMkLst>
            <pc:docMk/>
            <pc:sldMk cId="2793678344" sldId="270"/>
            <ac:picMk id="7" creationId="{32A0CF24-FA17-E236-A110-A354F30E7F82}"/>
          </ac:picMkLst>
        </pc:picChg>
      </pc:sldChg>
      <pc:sldChg chg="addSp modSp new mod">
        <pc:chgData name="srujana sri uppu" userId="52447b2075235fe0" providerId="LiveId" clId="{7F52AD5E-645D-48B7-9B96-1EF480CA9DD9}" dt="2026-09-08T09:34:24.405" v="402" actId="2711"/>
        <pc:sldMkLst>
          <pc:docMk/>
          <pc:sldMk cId="2605282108" sldId="271"/>
        </pc:sldMkLst>
        <pc:spChg chg="mod">
          <ac:chgData name="srujana sri uppu" userId="52447b2075235fe0" providerId="LiveId" clId="{7F52AD5E-645D-48B7-9B96-1EF480CA9DD9}" dt="2026-09-08T09:12:33.933" v="252" actId="207"/>
          <ac:spMkLst>
            <pc:docMk/>
            <pc:sldMk cId="2605282108" sldId="271"/>
            <ac:spMk id="2" creationId="{CF1F7B4D-633A-C9BB-A502-1C81C4A02E3E}"/>
          </ac:spMkLst>
        </pc:spChg>
        <pc:spChg chg="add mod">
          <ac:chgData name="srujana sri uppu" userId="52447b2075235fe0" providerId="LiveId" clId="{7F52AD5E-645D-48B7-9B96-1EF480CA9DD9}" dt="2026-09-08T09:34:24.405" v="402" actId="2711"/>
          <ac:spMkLst>
            <pc:docMk/>
            <pc:sldMk cId="2605282108" sldId="271"/>
            <ac:spMk id="8" creationId="{E25D6C66-F308-C747-372F-997951D9EF3C}"/>
          </ac:spMkLst>
        </pc:spChg>
        <pc:picChg chg="add mod">
          <ac:chgData name="srujana sri uppu" userId="52447b2075235fe0" providerId="LiveId" clId="{7F52AD5E-645D-48B7-9B96-1EF480CA9DD9}" dt="2026-09-08T09:13:03.404" v="254" actId="1076"/>
          <ac:picMkLst>
            <pc:docMk/>
            <pc:sldMk cId="2605282108" sldId="271"/>
            <ac:picMk id="5" creationId="{4B3972B1-87F4-4C30-5065-8A7F7E85AED9}"/>
          </ac:picMkLst>
        </pc:picChg>
        <pc:picChg chg="add mod">
          <ac:chgData name="srujana sri uppu" userId="52447b2075235fe0" providerId="LiveId" clId="{7F52AD5E-645D-48B7-9B96-1EF480CA9DD9}" dt="2026-09-08T09:13:30.504" v="256" actId="1076"/>
          <ac:picMkLst>
            <pc:docMk/>
            <pc:sldMk cId="2605282108" sldId="271"/>
            <ac:picMk id="7" creationId="{08329133-AC0B-D866-8E50-F6E83F57DC4C}"/>
          </ac:picMkLst>
        </pc:picChg>
      </pc:sldChg>
      <pc:sldChg chg="new del">
        <pc:chgData name="srujana sri uppu" userId="52447b2075235fe0" providerId="LiveId" clId="{7F52AD5E-645D-48B7-9B96-1EF480CA9DD9}" dt="2026-09-08T09:11:15.754" v="250" actId="2696"/>
        <pc:sldMkLst>
          <pc:docMk/>
          <pc:sldMk cId="3178855952" sldId="272"/>
        </pc:sldMkLst>
      </pc:sldChg>
      <pc:sldChg chg="addSp modSp new mod">
        <pc:chgData name="srujana sri uppu" userId="52447b2075235fe0" providerId="LiveId" clId="{7F52AD5E-645D-48B7-9B96-1EF480CA9DD9}" dt="2026-09-08T09:34:37" v="403" actId="2711"/>
        <pc:sldMkLst>
          <pc:docMk/>
          <pc:sldMk cId="3558914119" sldId="273"/>
        </pc:sldMkLst>
        <pc:spChg chg="mod">
          <ac:chgData name="srujana sri uppu" userId="52447b2075235fe0" providerId="LiveId" clId="{7F52AD5E-645D-48B7-9B96-1EF480CA9DD9}" dt="2026-09-08T09:23:20.784" v="331" actId="207"/>
          <ac:spMkLst>
            <pc:docMk/>
            <pc:sldMk cId="3558914119" sldId="273"/>
            <ac:spMk id="2" creationId="{0CA679FF-0F1E-B705-4375-341933D034B4}"/>
          </ac:spMkLst>
        </pc:spChg>
        <pc:spChg chg="mod">
          <ac:chgData name="srujana sri uppu" userId="52447b2075235fe0" providerId="LiveId" clId="{7F52AD5E-645D-48B7-9B96-1EF480CA9DD9}" dt="2026-09-08T09:24:49.392" v="332"/>
          <ac:spMkLst>
            <pc:docMk/>
            <pc:sldMk cId="3558914119" sldId="273"/>
            <ac:spMk id="3" creationId="{DB14029A-5661-8834-A91C-1E5D68E0F748}"/>
          </ac:spMkLst>
        </pc:spChg>
        <pc:spChg chg="add mod">
          <ac:chgData name="srujana sri uppu" userId="52447b2075235fe0" providerId="LiveId" clId="{7F52AD5E-645D-48B7-9B96-1EF480CA9DD9}" dt="2026-09-08T09:34:37" v="403" actId="2711"/>
          <ac:spMkLst>
            <pc:docMk/>
            <pc:sldMk cId="3558914119" sldId="273"/>
            <ac:spMk id="8" creationId="{2FE7CDFB-2DBB-F6BE-2668-BA7650FEF800}"/>
          </ac:spMkLst>
        </pc:spChg>
        <pc:picChg chg="add mod">
          <ac:chgData name="srujana sri uppu" userId="52447b2075235fe0" providerId="LiveId" clId="{7F52AD5E-645D-48B7-9B96-1EF480CA9DD9}" dt="2026-09-08T09:25:22.554" v="336" actId="14100"/>
          <ac:picMkLst>
            <pc:docMk/>
            <pc:sldMk cId="3558914119" sldId="273"/>
            <ac:picMk id="5" creationId="{C83D6D4A-6B35-81EA-0EA0-946B1FA9F048}"/>
          </ac:picMkLst>
        </pc:picChg>
        <pc:picChg chg="add mod">
          <ac:chgData name="srujana sri uppu" userId="52447b2075235fe0" providerId="LiveId" clId="{7F52AD5E-645D-48B7-9B96-1EF480CA9DD9}" dt="2026-09-08T09:25:51.960" v="341" actId="14100"/>
          <ac:picMkLst>
            <pc:docMk/>
            <pc:sldMk cId="3558914119" sldId="273"/>
            <ac:picMk id="7" creationId="{1D4DB85C-2C15-54DE-23D4-2B0CC2F8A26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dirty="0"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AkshayaChintala" TargetMode="External"/><Relationship Id="rId3" Type="http://schemas.openxmlformats.org/officeDocument/2006/relationships/hyperlink" Target="https://www.linkedin.com/in/sane-jhansi-44060425a" TargetMode="External"/><Relationship Id="rId7" Type="http://schemas.openxmlformats.org/officeDocument/2006/relationships/hyperlink" Target="https://www.linkedin.com/in/akshaya-chintala-524228275?utm_source=share_via&amp;utm_content=profile&amp;utm_medium=member_android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Srujanasri890" TargetMode="External"/><Relationship Id="rId5" Type="http://schemas.openxmlformats.org/officeDocument/2006/relationships/hyperlink" Target="https://www.linkedin.com/in/srujanasri-uppu-785b722a2?utm_source=share_via&amp;utm_content=profile&amp;utm_medium=member_android" TargetMode="External"/><Relationship Id="rId4" Type="http://schemas.openxmlformats.org/officeDocument/2006/relationships/hyperlink" Target="https://github.com/sanejhansi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3" y="0"/>
            <a:ext cx="1219140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2472904" y="3717986"/>
            <a:ext cx="729085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1800"/>
            </a:pPr>
            <a:r>
              <a:rPr lang="en-IN" sz="2800" b="1" dirty="0"/>
              <a:t>Hotel Reservation Operations Analytics</a:t>
            </a:r>
            <a:endParaRPr sz="28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/>
        </p:nvSpPr>
        <p:spPr>
          <a:xfrm>
            <a:off x="518162" y="2294852"/>
            <a:ext cx="3454400" cy="3046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en-IN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Sane Jhansi                                           </a:t>
            </a: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en-IN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en-IN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Background: B.Tech</a:t>
            </a: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endParaRPr lang="en-IN" sz="16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en-IN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Experience: Fresher</a:t>
            </a: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endParaRPr lang="en-IN" sz="16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en-IN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Linkedin:</a:t>
            </a:r>
          </a:p>
          <a:p>
            <a:pPr>
              <a:buClr>
                <a:schemeClr val="dk1"/>
              </a:buClr>
              <a:buSzPts val="2400"/>
            </a:pPr>
            <a:r>
              <a:rPr lang="fi-FI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https://www.linkedin.com/in/sane-jhansi-44060425a</a:t>
            </a:r>
            <a:endParaRPr lang="fi-FI" sz="16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buClr>
                <a:schemeClr val="dk1"/>
              </a:buClr>
              <a:buSzPts val="2400"/>
            </a:pPr>
            <a:endParaRPr lang="fi-FI" sz="16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buClr>
                <a:schemeClr val="dk1"/>
              </a:buClr>
              <a:buSzPts val="2400"/>
            </a:pPr>
            <a:r>
              <a:rPr lang="fi-FI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GitHub:- </a:t>
            </a:r>
            <a:r>
              <a:rPr lang="fi-FI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https://github.com/sanejhansi</a:t>
            </a:r>
            <a:endParaRPr lang="fi-FI" sz="16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416562" y="833114"/>
            <a:ext cx="11131036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1800" b="0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IN" sz="4000" b="1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Meet Team</a:t>
            </a:r>
            <a:endParaRPr sz="4000" b="1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38F777-CD89-7066-DFF1-0C9BF6F949E6}"/>
              </a:ext>
            </a:extLst>
          </p:cNvPr>
          <p:cNvSpPr txBox="1"/>
          <p:nvPr/>
        </p:nvSpPr>
        <p:spPr>
          <a:xfrm>
            <a:off x="4500880" y="2294852"/>
            <a:ext cx="3505200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Uppu Srujana Sri</a:t>
            </a:r>
          </a:p>
          <a:p>
            <a:endParaRPr lang="en-IN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Background: B.Tech</a:t>
            </a:r>
          </a:p>
          <a:p>
            <a:endParaRPr lang="en-IN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Experience: Fresher</a:t>
            </a:r>
          </a:p>
          <a:p>
            <a:endParaRPr lang="en-IN" b="1" dirty="0"/>
          </a:p>
          <a:p>
            <a:r>
              <a:rPr lang="en-IN" b="1" dirty="0"/>
              <a:t>Linkedin:</a:t>
            </a:r>
          </a:p>
          <a:p>
            <a:r>
              <a:rPr lang="en-IN" b="1" dirty="0">
                <a:hlinkClick r:id="rId5"/>
              </a:rPr>
              <a:t>https://www.linkedin.com/in/srujanasri-uppu-785b722a2?</a:t>
            </a:r>
            <a:endParaRPr lang="en-IN" b="1" dirty="0"/>
          </a:p>
          <a:p>
            <a:endParaRPr lang="en-IN" b="1" dirty="0"/>
          </a:p>
          <a:p>
            <a:r>
              <a:rPr lang="en-IN" b="1" dirty="0"/>
              <a:t>GitHub:</a:t>
            </a:r>
          </a:p>
          <a:p>
            <a:r>
              <a:rPr lang="en-IN" b="1" dirty="0">
                <a:hlinkClick r:id="rId6"/>
              </a:rPr>
              <a:t>https://github.com/Srujanasri890</a:t>
            </a:r>
            <a:r>
              <a:rPr lang="en-IN" b="1" dirty="0"/>
              <a:t>  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AC247A-CBEB-369B-FF7B-7EF083A78D09}"/>
              </a:ext>
            </a:extLst>
          </p:cNvPr>
          <p:cNvSpPr txBox="1"/>
          <p:nvPr/>
        </p:nvSpPr>
        <p:spPr>
          <a:xfrm>
            <a:off x="8453118" y="2294852"/>
            <a:ext cx="35052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Chintala Akshaya</a:t>
            </a:r>
          </a:p>
          <a:p>
            <a:endParaRPr lang="en-IN" b="1" dirty="0"/>
          </a:p>
          <a:p>
            <a:r>
              <a:rPr lang="en-IN" b="1" dirty="0"/>
              <a:t>Background: B.Tech</a:t>
            </a:r>
          </a:p>
          <a:p>
            <a:endParaRPr lang="en-IN" b="1" dirty="0"/>
          </a:p>
          <a:p>
            <a:r>
              <a:rPr lang="en-IN" b="1" dirty="0"/>
              <a:t>Experience: Fresher</a:t>
            </a:r>
          </a:p>
          <a:p>
            <a:endParaRPr lang="en-IN" b="1" dirty="0"/>
          </a:p>
          <a:p>
            <a:r>
              <a:rPr lang="en-IN" b="1" dirty="0"/>
              <a:t>Linkedin:</a:t>
            </a:r>
          </a:p>
          <a:p>
            <a:r>
              <a:rPr lang="en-IN" b="1" dirty="0">
                <a:hlinkClick r:id="rId7"/>
              </a:rPr>
              <a:t>https://www.linkedin.com/in/akshaya-chintala-524228275?</a:t>
            </a:r>
            <a:endParaRPr lang="en-IN" b="1" dirty="0"/>
          </a:p>
          <a:p>
            <a:endParaRPr lang="en-IN" b="1" dirty="0"/>
          </a:p>
          <a:p>
            <a:r>
              <a:rPr lang="en-IN" b="1" dirty="0"/>
              <a:t>GitHub: </a:t>
            </a:r>
            <a:r>
              <a:rPr lang="en-IN" b="1" dirty="0">
                <a:hlinkClick r:id="rId8"/>
              </a:rPr>
              <a:t>https://github.com/AkshayaChintala</a:t>
            </a:r>
            <a:endParaRPr lang="en-IN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513275" y="292570"/>
            <a:ext cx="115161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dirty="0">
                <a:solidFill>
                  <a:srgbClr val="FF0000"/>
                </a:solidFill>
              </a:rPr>
              <a:t>   Table of contents  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111" name="Google Shape;111;p4"/>
          <p:cNvSpPr txBox="1">
            <a:spLocks noGrp="1"/>
          </p:cNvSpPr>
          <p:nvPr>
            <p:ph type="body" idx="1"/>
          </p:nvPr>
        </p:nvSpPr>
        <p:spPr>
          <a:xfrm>
            <a:off x="684880" y="1493134"/>
            <a:ext cx="10515600" cy="4777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71634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2253"/>
              <a:buFont typeface="Arial"/>
              <a:buChar char="•"/>
            </a:pPr>
            <a:r>
              <a:rPr lang="en-IN" sz="2253" b="1" dirty="0">
                <a:latin typeface="Arial"/>
                <a:ea typeface="Arial"/>
                <a:cs typeface="Arial"/>
                <a:sym typeface="Arial"/>
              </a:rPr>
              <a:t>Project Overview</a:t>
            </a:r>
            <a:br>
              <a:rPr lang="en-IN" sz="2253" b="1" dirty="0">
                <a:latin typeface="Arial"/>
                <a:ea typeface="Arial"/>
                <a:cs typeface="Arial"/>
                <a:sym typeface="Arial"/>
              </a:rPr>
            </a:br>
            <a:endParaRPr sz="2253" b="1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71634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253"/>
              <a:buFont typeface="Arial"/>
              <a:buChar char="•"/>
            </a:pPr>
            <a:r>
              <a:rPr lang="en-IN" sz="2253" b="1" dirty="0">
                <a:latin typeface="Arial"/>
                <a:ea typeface="Arial"/>
                <a:cs typeface="Arial"/>
                <a:sym typeface="Arial"/>
              </a:rPr>
              <a:t>Business Scenario</a:t>
            </a:r>
            <a:br>
              <a:rPr lang="en-IN" sz="2253" b="1" dirty="0">
                <a:latin typeface="Arial"/>
                <a:ea typeface="Arial"/>
                <a:cs typeface="Arial"/>
                <a:sym typeface="Arial"/>
              </a:rPr>
            </a:br>
            <a:endParaRPr sz="2253" b="1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71634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253"/>
              <a:buFont typeface="Arial"/>
              <a:buChar char="•"/>
            </a:pPr>
            <a:r>
              <a:rPr lang="en-IN" sz="2253" b="1" dirty="0">
                <a:latin typeface="Arial"/>
                <a:ea typeface="Arial"/>
                <a:cs typeface="Arial"/>
                <a:sym typeface="Arial"/>
              </a:rPr>
              <a:t>Business Objectives</a:t>
            </a:r>
            <a:br>
              <a:rPr lang="en-IN" sz="2253" b="1" dirty="0">
                <a:latin typeface="Arial"/>
                <a:ea typeface="Arial"/>
                <a:cs typeface="Arial"/>
                <a:sym typeface="Arial"/>
              </a:rPr>
            </a:br>
            <a:endParaRPr sz="2253" b="1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71634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253"/>
              <a:buFont typeface="Arial"/>
              <a:buChar char="•"/>
            </a:pPr>
            <a:r>
              <a:rPr lang="en-IN" sz="2253" b="1" dirty="0">
                <a:latin typeface="Arial"/>
                <a:ea typeface="Arial"/>
                <a:cs typeface="Arial"/>
                <a:sym typeface="Arial"/>
              </a:rPr>
              <a:t>Dataset &amp; Database Overview</a:t>
            </a:r>
            <a:br>
              <a:rPr lang="en-IN" sz="2253" b="1" dirty="0">
                <a:latin typeface="Arial"/>
                <a:ea typeface="Arial"/>
                <a:cs typeface="Arial"/>
                <a:sym typeface="Arial"/>
              </a:rPr>
            </a:br>
            <a:endParaRPr sz="2253" b="1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71634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253"/>
              <a:buFont typeface="Arial"/>
              <a:buChar char="•"/>
            </a:pPr>
            <a:r>
              <a:rPr lang="en-IN" sz="2253" b="1" dirty="0">
                <a:latin typeface="Arial"/>
                <a:ea typeface="Arial"/>
                <a:cs typeface="Arial"/>
                <a:sym typeface="Arial"/>
              </a:rPr>
              <a:t>ER Diagram &amp; Database Structure</a:t>
            </a:r>
            <a:br>
              <a:rPr lang="en-IN" sz="2253" b="1" dirty="0">
                <a:latin typeface="Arial"/>
                <a:ea typeface="Arial"/>
                <a:cs typeface="Arial"/>
                <a:sym typeface="Arial"/>
              </a:rPr>
            </a:br>
            <a:endParaRPr sz="2253" b="1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71634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253"/>
              <a:buFont typeface="Arial"/>
              <a:buChar char="•"/>
            </a:pPr>
            <a:r>
              <a:rPr lang="en-IN" sz="2253" b="1" dirty="0">
                <a:latin typeface="Arial"/>
                <a:ea typeface="Arial"/>
                <a:cs typeface="Arial"/>
                <a:sym typeface="Arial"/>
              </a:rPr>
              <a:t>Analysis of the Objectives</a:t>
            </a:r>
            <a:br>
              <a:rPr lang="en-IN" sz="2253" b="1" dirty="0">
                <a:latin typeface="Arial"/>
                <a:ea typeface="Arial"/>
                <a:cs typeface="Arial"/>
                <a:sym typeface="Arial"/>
              </a:rPr>
            </a:br>
            <a:endParaRPr sz="2253" b="1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71634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253"/>
              <a:buFont typeface="Arial"/>
              <a:buChar char="•"/>
            </a:pPr>
            <a:r>
              <a:rPr lang="en-IN" sz="2253" b="1" dirty="0">
                <a:latin typeface="Arial"/>
                <a:ea typeface="Arial"/>
                <a:cs typeface="Arial"/>
                <a:sym typeface="Arial"/>
              </a:rPr>
              <a:t>Overall Key Findings</a:t>
            </a:r>
            <a:br>
              <a:rPr lang="en-IN" sz="2253" b="1" dirty="0">
                <a:latin typeface="Arial"/>
                <a:ea typeface="Arial"/>
                <a:cs typeface="Arial"/>
                <a:sym typeface="Arial"/>
              </a:rPr>
            </a:br>
            <a:endParaRPr sz="2253" b="1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71634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253"/>
              <a:buFont typeface="Arial"/>
              <a:buChar char="•"/>
            </a:pPr>
            <a:r>
              <a:rPr lang="en-IN" sz="2253" b="1" dirty="0">
                <a:latin typeface="Arial"/>
                <a:ea typeface="Arial"/>
                <a:cs typeface="Arial"/>
                <a:sym typeface="Arial"/>
              </a:rPr>
              <a:t>Business Recommendations</a:t>
            </a:r>
            <a:br>
              <a:rPr lang="en-IN" sz="2253" b="1" dirty="0">
                <a:latin typeface="Arial"/>
                <a:ea typeface="Arial"/>
                <a:cs typeface="Arial"/>
                <a:sym typeface="Arial"/>
              </a:rPr>
            </a:br>
            <a:endParaRPr sz="2253" b="1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71634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253"/>
              <a:buFont typeface="Arial"/>
              <a:buChar char="•"/>
            </a:pPr>
            <a:r>
              <a:rPr lang="en-IN" sz="2253" b="1" dirty="0">
                <a:latin typeface="Arial"/>
                <a:ea typeface="Arial"/>
                <a:cs typeface="Arial"/>
                <a:sym typeface="Arial"/>
              </a:rPr>
              <a:t>Conclusion</a:t>
            </a:r>
            <a:br>
              <a:rPr lang="en-IN" sz="2253" b="1" dirty="0">
                <a:latin typeface="Arial"/>
                <a:ea typeface="Arial"/>
                <a:cs typeface="Arial"/>
                <a:sym typeface="Arial"/>
              </a:rPr>
            </a:br>
            <a:endParaRPr lang="en-IN" sz="2253" b="1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71634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253"/>
              <a:buFont typeface="Arial"/>
              <a:buChar char="•"/>
            </a:pPr>
            <a:r>
              <a:rPr lang="en-IN" sz="2253" b="1" dirty="0">
                <a:latin typeface="Arial"/>
                <a:ea typeface="Arial"/>
                <a:cs typeface="Arial"/>
                <a:sym typeface="Arial"/>
              </a:rPr>
              <a:t>Q&amp;A</a:t>
            </a:r>
            <a:endParaRPr lang="en-IN" sz="326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3D2CD-3EA9-519D-2652-4639E3419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Project 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FE2C15-CA5F-3E4B-BCB7-373AD649F1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52880"/>
            <a:ext cx="10515600" cy="4724083"/>
          </a:xfrm>
        </p:spPr>
        <p:txBody>
          <a:bodyPr>
            <a:normAutofit/>
          </a:bodyPr>
          <a:lstStyle/>
          <a:p>
            <a:r>
              <a:rPr lang="en-IN" sz="2200" dirty="0"/>
              <a:t>This project focuses on analyzing hotel reservation operations using MySQL. The objective is to convert hotel reservation data into meaningful business insights.</a:t>
            </a:r>
          </a:p>
          <a:p>
            <a:r>
              <a:rPr lang="en-IN" sz="2200" dirty="0"/>
              <a:t>The analysis covers:</a:t>
            </a:r>
          </a:p>
          <a:p>
            <a:pPr lvl="0"/>
            <a:r>
              <a:rPr lang="en-IN" sz="2200" dirty="0"/>
              <a:t>Booking demand </a:t>
            </a:r>
          </a:p>
          <a:p>
            <a:pPr lvl="0"/>
            <a:r>
              <a:rPr lang="en-IN" sz="2200" dirty="0"/>
              <a:t>Guest booking behaviour </a:t>
            </a:r>
          </a:p>
          <a:p>
            <a:pPr lvl="0"/>
            <a:r>
              <a:rPr lang="en-IN" sz="2200" dirty="0"/>
              <a:t>Stay performance </a:t>
            </a:r>
          </a:p>
          <a:p>
            <a:pPr lvl="0"/>
            <a:r>
              <a:rPr lang="en-IN" sz="2200" dirty="0"/>
              <a:t>Staff and room performance </a:t>
            </a:r>
          </a:p>
          <a:p>
            <a:pPr lvl="0"/>
            <a:r>
              <a:rPr lang="en-IN" sz="2200" dirty="0"/>
              <a:t>Booking and stay problems </a:t>
            </a:r>
          </a:p>
          <a:p>
            <a:r>
              <a:rPr lang="en-IN" sz="2200" dirty="0"/>
              <a:t>The project demonstrates the complete process from understanding business requirements to writing SQL queries and interpreting results.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049095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05B6B-9069-C32D-7430-B6B798AB3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Business Scenario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821BD3-9C7D-A32C-495C-6FC16B016B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69985"/>
            <a:ext cx="10515600" cy="4718553"/>
          </a:xfrm>
        </p:spPr>
        <p:txBody>
          <a:bodyPr>
            <a:normAutofit/>
          </a:bodyPr>
          <a:lstStyle/>
          <a:p>
            <a:pPr lvl="0"/>
            <a:r>
              <a:rPr lang="en-IN" sz="2200" dirty="0"/>
              <a:t>StayPoint Hospitality manages multiple hotels and maintains data related to guests, bookings, rooms, stays, and staff. </a:t>
            </a:r>
          </a:p>
          <a:p>
            <a:pPr lvl="0"/>
            <a:r>
              <a:rPr lang="en-IN" sz="2200" dirty="0"/>
              <a:t>The company needs to analyze booking demand across hotels, booking channels, room types, and different time periods. </a:t>
            </a:r>
          </a:p>
          <a:p>
            <a:pPr lvl="0"/>
            <a:r>
              <a:rPr lang="en-IN" sz="2200" dirty="0"/>
              <a:t>It also needs to understand guest booking behaviour, including booking frequency, spending, and differences between guest types. </a:t>
            </a:r>
          </a:p>
          <a:p>
            <a:pPr lvl="0"/>
            <a:r>
              <a:rPr lang="en-IN" sz="2200" dirty="0"/>
              <a:t>The organization wants to evaluate stay, staff, and room performance to improve operational efficiency and resource utilization. </a:t>
            </a:r>
          </a:p>
          <a:p>
            <a:pPr lvl="0"/>
            <a:r>
              <a:rPr lang="en-IN" sz="2200" dirty="0"/>
              <a:t>Finally, the company needs to identify booking and stay problems such as cancellations, no-shows, and high service requests, so that management can take appropriate action.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692890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E56F7-C0A0-7288-C18E-DB14B844B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457200" lvl="0" indent="-371634">
              <a:lnSpc>
                <a:spcPct val="70000"/>
              </a:lnSpc>
            </a:pPr>
            <a:r>
              <a:rPr lang="en-IN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Business Objectives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166CEF-25AA-AF40-A124-08845A4689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39433"/>
            <a:ext cx="10515600" cy="4637530"/>
          </a:xfrm>
        </p:spPr>
        <p:txBody>
          <a:bodyPr>
            <a:normAutofit/>
          </a:bodyPr>
          <a:lstStyle/>
          <a:p>
            <a:pPr lvl="0"/>
            <a:r>
              <a:rPr lang="en-IN" sz="2200" dirty="0"/>
              <a:t>Analyze booking demand to understand which hotels, booking channels, and room types receive the most bookings. </a:t>
            </a:r>
          </a:p>
          <a:p>
            <a:pPr lvl="0"/>
            <a:r>
              <a:rPr lang="en-IN" sz="2200" dirty="0"/>
              <a:t>Understand guest booking behaviour by studying booking frequency, booking amounts, guest types, and booking patterns. </a:t>
            </a:r>
          </a:p>
          <a:p>
            <a:pPr lvl="0"/>
            <a:r>
              <a:rPr lang="en-IN" sz="2200" dirty="0"/>
              <a:t>Evaluate stay performance by analyzing stay outcomes, duration, status, and performance across different hotels and time periods. </a:t>
            </a:r>
          </a:p>
          <a:p>
            <a:pPr lvl="0"/>
            <a:r>
              <a:rPr lang="en-IN" sz="2200" dirty="0"/>
              <a:t>Measure staff and room performance to understand workload, room usage, and how effectively hotel resources are being utilized. </a:t>
            </a:r>
          </a:p>
          <a:p>
            <a:pPr lvl="0"/>
            <a:r>
              <a:rPr lang="en-IN" sz="2200" dirty="0"/>
              <a:t>Identify booking and stay problems such as cancellations, no-shows, and service requests, and use the findings to support better operational decisions.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723620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002DD-C7AC-1B77-7602-C95358446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Dataset &amp; Database Overview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B5E603-C469-9E75-C66C-A16481843C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2202DEE-A41A-06BC-187F-A1625A422C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030939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76937474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77078959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96132224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705107585"/>
                    </a:ext>
                  </a:extLst>
                </a:gridCol>
              </a:tblGrid>
              <a:tr h="3656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Table / Dataset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Records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Columns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6352586"/>
                  </a:ext>
                </a:extLst>
              </a:tr>
              <a:tr h="6216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Guests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350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Contains guest details and preferences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4852046"/>
                  </a:ext>
                </a:extLst>
              </a:tr>
              <a:tr h="6216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Hotels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Contains hotel details and room capacity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2086013"/>
                  </a:ext>
                </a:extLst>
              </a:tr>
              <a:tr h="6216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Rooms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600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Contains room details, types, occupancy, and pricing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1605865"/>
                  </a:ext>
                </a:extLst>
              </a:tr>
              <a:tr h="6216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Bookings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2,800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Contains guest reservation and booking details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2808430"/>
                  </a:ext>
                </a:extLst>
              </a:tr>
              <a:tr h="6216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Stays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3,200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Contains check-in, check-out, stay status, and service details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7257207"/>
                  </a:ext>
                </a:extLst>
              </a:tr>
              <a:tr h="8775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Staff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Contains staff details, department, rating, and active status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95628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72456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7562D-BBFE-3EA0-885A-2872AB34D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26126"/>
          </a:xfrm>
        </p:spPr>
        <p:txBody>
          <a:bodyPr>
            <a:normAutofit fontScale="90000"/>
          </a:bodyPr>
          <a:lstStyle/>
          <a:p>
            <a:pPr marL="457200" lvl="0" indent="-371634">
              <a:lnSpc>
                <a:spcPct val="70000"/>
              </a:lnSpc>
            </a:pPr>
            <a:r>
              <a:rPr lang="en-IN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ER Diagram &amp; Database Structure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5184B1-3CFB-EF42-6348-10C0CAD4C9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0D65EE-189A-D666-4BE3-36C556A7E6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408" y="891253"/>
            <a:ext cx="10647392" cy="5363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8493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1C3F7-F66C-D69D-8531-C8AF12B50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Analysis of the Objectives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455DDF-90CE-FF4C-2212-FDABC7DE08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372B9C8-B4F1-05C7-3266-71D3FBC1C8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9637007"/>
              </p:ext>
            </p:extLst>
          </p:nvPr>
        </p:nvGraphicFramePr>
        <p:xfrm>
          <a:off x="729206" y="1597306"/>
          <a:ext cx="10741306" cy="46645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11699">
                  <a:extLst>
                    <a:ext uri="{9D8B030D-6E8A-4147-A177-3AD203B41FA5}">
                      <a16:colId xmlns:a16="http://schemas.microsoft.com/office/drawing/2014/main" val="2891290039"/>
                    </a:ext>
                  </a:extLst>
                </a:gridCol>
                <a:gridCol w="5429607">
                  <a:extLst>
                    <a:ext uri="{9D8B030D-6E8A-4147-A177-3AD203B41FA5}">
                      <a16:colId xmlns:a16="http://schemas.microsoft.com/office/drawing/2014/main" val="2730577063"/>
                    </a:ext>
                  </a:extLst>
                </a:gridCol>
              </a:tblGrid>
              <a:tr h="3792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Objective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Analysis Performed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7850050"/>
                  </a:ext>
                </a:extLst>
              </a:tr>
              <a:tr h="9101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Booking Demand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Analyzed bookings across hotels, booking channels, room types, time periods, and booking amounts to understand booking demand.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9454727"/>
                  </a:ext>
                </a:extLst>
              </a:tr>
              <a:tr h="9101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Guest Booking Behaviour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Analyzed guest booking frequency, total booking amount, activity across hotels, guest types, and booking patterns over time.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2348795"/>
                  </a:ext>
                </a:extLst>
              </a:tr>
              <a:tr h="9101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Stay Performance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Compared stay outcomes across hotels, examined stay duration, analyzed different stay statuses, and evaluated stay performance over time.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4998121"/>
                  </a:ext>
                </a:extLst>
              </a:tr>
              <a:tr h="9101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Staff &amp; Room Performance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Analyzed the number of stays handled by staff, staff performance, stay duration, room usage by room type, and stay performance across rooms.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0259706"/>
                  </a:ext>
                </a:extLst>
              </a:tr>
              <a:tr h="6447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Booking &amp; Stay Problems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Analyzed</a:t>
                      </a:r>
                      <a:r>
                        <a:rPr lang="en-IN" dirty="0"/>
                        <a:t> cancellations, no-shows, stay status patterns, service requests, and hotels with higher booking or stay problems.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58963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64237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F13DE-7FCE-EB37-CA3E-A0FBBA91D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Which booking channel is most popular?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E5BCD3-3B5E-836E-0EAF-82F5F981FB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36902E4-04A1-4BE5-6549-901415EA99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917" y="2040136"/>
            <a:ext cx="5276919" cy="109728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44ABBB9-DE57-AC5F-A361-591F41F77E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5317" y="2007433"/>
            <a:ext cx="2657846" cy="170521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63D620A-4715-D2ED-5693-68EE33403EFE}"/>
              </a:ext>
            </a:extLst>
          </p:cNvPr>
          <p:cNvSpPr txBox="1"/>
          <p:nvPr/>
        </p:nvSpPr>
        <p:spPr>
          <a:xfrm>
            <a:off x="838200" y="4269224"/>
            <a:ext cx="103245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Insights:</a:t>
            </a:r>
          </a:p>
          <a:p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booking channel with the highest number of bookings is the most popular channel among customers. This indicates that customers prefer using that channel when making hotel reservations.</a:t>
            </a:r>
            <a:endParaRPr lang="en-IN" sz="180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00079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8DD97-6013-C0AC-24F7-F842B6AB3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 What is the average stay duration?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73FEDD-0B57-5440-6581-A0BC5F7CE9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5C13B6-01D7-51F8-552B-8A9A18A49D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672" y="1997949"/>
            <a:ext cx="4768528" cy="143105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2A0CF24-FA17-E236-A110-A354F30E7F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1342" y="1997949"/>
            <a:ext cx="3305636" cy="100026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8970D21-B8BA-5A71-EC8C-CA7B1504B301}"/>
              </a:ext>
            </a:extLst>
          </p:cNvPr>
          <p:cNvSpPr txBox="1"/>
          <p:nvPr/>
        </p:nvSpPr>
        <p:spPr>
          <a:xfrm>
            <a:off x="838200" y="4233595"/>
            <a:ext cx="9625082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Insights:</a:t>
            </a:r>
          </a:p>
          <a:p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 looking at average, minimum, and maximum nights stayed, the hotel can understand guest stay patterns and plan room availability and operations more effectively.</a:t>
            </a:r>
            <a:endParaRPr lang="en-IN" sz="18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936783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F7B4D-633A-C9BB-A502-1C81C4A02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What are the different stay statuses?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217E3D-9AE0-5D05-FBD5-E335DE2D9F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3972B1-87F4-4C30-5065-8A7F7E85AE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410" y="2008394"/>
            <a:ext cx="3219899" cy="15813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8329133-AC0B-D866-8E50-F6E83F57DC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6457" y="2054114"/>
            <a:ext cx="2476846" cy="128605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25D6C66-F308-C747-372F-997951D9EF3C}"/>
              </a:ext>
            </a:extLst>
          </p:cNvPr>
          <p:cNvSpPr txBox="1"/>
          <p:nvPr/>
        </p:nvSpPr>
        <p:spPr>
          <a:xfrm>
            <a:off x="970690" y="4297680"/>
            <a:ext cx="9870030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Insights:</a:t>
            </a:r>
          </a:p>
          <a:p>
            <a:pPr lvl="0"/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query shows the number of stays under each status, status with the highest count represents the most common stay outcome, Checked-out stays indicate completed stays, In-progress stays indicate currently ongoing stays. </a:t>
            </a:r>
          </a:p>
          <a:p>
            <a:pPr lvl="0"/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Cancelled and No-show stays represent potential booking or operational problems.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052821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679FF-0F1E-B705-4375-341933D03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Which staff member handled the most stays?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14029A-5661-8834-A91C-1E5D68E0F7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3D6D4A-6B35-81EA-0EA0-946B1FA9F0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887" y="2018924"/>
            <a:ext cx="5197553" cy="10798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D4DB85C-2C15-54DE-23D4-2B0CC2F8A2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7040" y="1899920"/>
            <a:ext cx="2305835" cy="170688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FE7CDFB-2DBB-F6BE-2668-BA7650FEF800}"/>
              </a:ext>
            </a:extLst>
          </p:cNvPr>
          <p:cNvSpPr txBox="1"/>
          <p:nvPr/>
        </p:nvSpPr>
        <p:spPr>
          <a:xfrm>
            <a:off x="989887" y="4299496"/>
            <a:ext cx="10064193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Insights:</a:t>
            </a:r>
          </a:p>
          <a:p>
            <a:pPr lvl="0"/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staff member with the highest number of stays has handled the most guest stays. </a:t>
            </a:r>
          </a:p>
          <a:p>
            <a:pPr lvl="0"/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helps identify staff workload differences. </a:t>
            </a:r>
          </a:p>
          <a:p>
            <a:pPr lvl="0"/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Staff members handling many stays may require proper workload monitoring to avoid overloading. </a:t>
            </a:r>
          </a:p>
          <a:p>
            <a:pPr lvl="0"/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hotel can use this analysis for better staff allocation and operational planning.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589141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674CC-538B-EC13-21CA-2DB4E24C1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Overall Key Findings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AD3108-E02B-4DFD-9908-EAD5571DDC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93134"/>
            <a:ext cx="10515600" cy="4683829"/>
          </a:xfrm>
        </p:spPr>
        <p:txBody>
          <a:bodyPr>
            <a:normAutofit/>
          </a:bodyPr>
          <a:lstStyle/>
          <a:p>
            <a:pPr lvl="0"/>
            <a:r>
              <a:rPr lang="en-IN" sz="2400" b="1" dirty="0"/>
              <a:t>Booking demand:</a:t>
            </a:r>
            <a:r>
              <a:rPr lang="en-IN" sz="2400" dirty="0"/>
              <a:t> The analysis helps identify the hotels, booking channels, and room types with higher booking activity. </a:t>
            </a:r>
          </a:p>
          <a:p>
            <a:pPr lvl="0"/>
            <a:r>
              <a:rPr lang="en-IN" sz="2400" b="1" dirty="0"/>
              <a:t>Guest behaviour:</a:t>
            </a:r>
            <a:r>
              <a:rPr lang="en-IN" sz="2400" dirty="0"/>
              <a:t> The analysis shows differences in guest booking frequency, spending, hotel activity, and behaviour between Individual and Corporate guests. </a:t>
            </a:r>
          </a:p>
          <a:p>
            <a:pPr lvl="0"/>
            <a:r>
              <a:rPr lang="en-IN" sz="2400" b="1" dirty="0"/>
              <a:t>Stay performance:</a:t>
            </a:r>
            <a:r>
              <a:rPr lang="en-IN" sz="2400" dirty="0"/>
              <a:t> Stay outcomes, duration, and different statuses such as Checked-out, No-show, Cancelled, and In-progress can be compared to understand overall stay performance. </a:t>
            </a:r>
          </a:p>
          <a:p>
            <a:pPr lvl="0"/>
            <a:r>
              <a:rPr lang="en-IN" sz="2400" b="1" dirty="0"/>
              <a:t>Staff &amp; room utilization:</a:t>
            </a:r>
            <a:r>
              <a:rPr lang="en-IN" sz="2400" dirty="0"/>
              <a:t> The analysis helps identify staff workload, room usage, and differences in performance across staff members and rooms. </a:t>
            </a:r>
          </a:p>
          <a:p>
            <a:pPr lvl="0"/>
            <a:r>
              <a:rPr lang="en-IN" sz="2400" b="1" dirty="0"/>
              <a:t>Booking &amp; stay problems:</a:t>
            </a:r>
            <a:r>
              <a:rPr lang="en-IN" sz="2400" dirty="0"/>
              <a:t> Cancellations, no-shows, service requests, and hotels with higher problem levels can be identified for further improvement.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677699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555EA-F7BD-5629-575F-0A90DBF48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Business Recommendations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FCC44D-16F4-2BF6-433D-ADB13D82EF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04709"/>
            <a:ext cx="10515600" cy="4672254"/>
          </a:xfrm>
        </p:spPr>
        <p:txBody>
          <a:bodyPr>
            <a:normAutofit lnSpcReduction="10000"/>
          </a:bodyPr>
          <a:lstStyle/>
          <a:p>
            <a:pPr lvl="0"/>
            <a:r>
              <a:rPr lang="en-IN" sz="2400" b="1" dirty="0"/>
              <a:t>Optimize booking channels:</a:t>
            </a:r>
            <a:r>
              <a:rPr lang="en-IN" sz="2400" dirty="0"/>
              <a:t> Focus on the booking channels that generate higher booking activity and regularly monitor their performance. </a:t>
            </a:r>
          </a:p>
          <a:p>
            <a:pPr lvl="0"/>
            <a:r>
              <a:rPr lang="en-IN" sz="2400" b="1" dirty="0"/>
              <a:t>Improve room availability:</a:t>
            </a:r>
            <a:r>
              <a:rPr lang="en-IN" sz="2400" dirty="0"/>
              <a:t> Maintain sufficient availability for room types that have higher demand and use booking trends for better room planning. </a:t>
            </a:r>
          </a:p>
          <a:p>
            <a:pPr lvl="0"/>
            <a:r>
              <a:rPr lang="en-IN" sz="2400" b="1" dirty="0"/>
              <a:t>Understand guest behaviour:</a:t>
            </a:r>
            <a:r>
              <a:rPr lang="en-IN" sz="2400" dirty="0"/>
              <a:t> Use guest booking patterns and spending behaviour to improve customer engagement and provide more suitable services. </a:t>
            </a:r>
          </a:p>
          <a:p>
            <a:pPr lvl="0"/>
            <a:r>
              <a:rPr lang="en-IN" sz="2400" b="1" dirty="0"/>
              <a:t>Improve hotel operations:</a:t>
            </a:r>
            <a:r>
              <a:rPr lang="en-IN" sz="2400" dirty="0"/>
              <a:t> Monitor stay outcomes, staff workload, and room usage to improve operational efficiency and resource utilization. </a:t>
            </a:r>
          </a:p>
          <a:p>
            <a:pPr lvl="0"/>
            <a:r>
              <a:rPr lang="en-IN" sz="2400" b="1" dirty="0"/>
              <a:t>Reduce booking and stay problems:</a:t>
            </a:r>
            <a:r>
              <a:rPr lang="en-IN" sz="2400" dirty="0"/>
              <a:t> Closely monitor cancellations, no-shows, and high service requests, and take corrective actions to improve the overall guest experience.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12000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D9C51-9C5D-1D92-DD63-301E8367D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68C8E3-087F-8327-3A61-0016ACE5CB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12111"/>
            <a:ext cx="10515600" cy="4764852"/>
          </a:xfrm>
        </p:spPr>
        <p:txBody>
          <a:bodyPr>
            <a:normAutofit fontScale="92500"/>
          </a:bodyPr>
          <a:lstStyle/>
          <a:p>
            <a:pPr lvl="0"/>
            <a:r>
              <a:rPr lang="en-IN" sz="2600" dirty="0"/>
              <a:t>This project demonstrates how hotel reservation data can be </a:t>
            </a:r>
            <a:r>
              <a:rPr lang="en-IN" sz="2600" dirty="0" err="1"/>
              <a:t>analyzed</a:t>
            </a:r>
            <a:r>
              <a:rPr lang="en-IN" sz="2600" dirty="0"/>
              <a:t> using MySQL and SQL to support business decision-making. </a:t>
            </a:r>
          </a:p>
          <a:p>
            <a:pPr lvl="0"/>
            <a:r>
              <a:rPr lang="en-IN" sz="2600" dirty="0"/>
              <a:t>The analysis provides an understanding of booking demand, guest booking behaviour, stay performance, staff performance, and room utilization. </a:t>
            </a:r>
          </a:p>
          <a:p>
            <a:pPr lvl="0"/>
            <a:r>
              <a:rPr lang="en-IN" sz="2600" dirty="0"/>
              <a:t>It also helps identify important operational issues such as cancellations, no-shows, and service requests. </a:t>
            </a:r>
          </a:p>
          <a:p>
            <a:pPr lvl="0"/>
            <a:r>
              <a:rPr lang="en-IN" sz="2600" dirty="0"/>
              <a:t>By connecting the different tables and analyzing the data through SQL queries, we can convert raw reservation data into meaningful business insights. </a:t>
            </a:r>
          </a:p>
          <a:p>
            <a:pPr lvl="0"/>
            <a:r>
              <a:rPr lang="en-IN" sz="2600" dirty="0"/>
              <a:t>Overall, the project shows how a structured, data-driven approach can help StayPoint Hospitality improve its operations, utilize resources effectively, and make better business decisions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889913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1209</Words>
  <Application>Microsoft Office PowerPoint</Application>
  <PresentationFormat>Widescreen</PresentationFormat>
  <Paragraphs>143</Paragraphs>
  <Slides>17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Lato Black</vt:lpstr>
      <vt:lpstr>Libre Baskerville</vt:lpstr>
      <vt:lpstr>Office Theme</vt:lpstr>
      <vt:lpstr>PowerPoint Presentation</vt:lpstr>
      <vt:lpstr>PowerPoint Presentation</vt:lpstr>
      <vt:lpstr>   Table of contents  </vt:lpstr>
      <vt:lpstr>Project Overview</vt:lpstr>
      <vt:lpstr>Business Scenario</vt:lpstr>
      <vt:lpstr>Business Objectives</vt:lpstr>
      <vt:lpstr>Dataset &amp; Database Overview</vt:lpstr>
      <vt:lpstr>ER Diagram &amp; Database Structure</vt:lpstr>
      <vt:lpstr>Analysis of the Objectives</vt:lpstr>
      <vt:lpstr>Which booking channel is most popular?</vt:lpstr>
      <vt:lpstr> What is the average stay duration?</vt:lpstr>
      <vt:lpstr>What are the different stay statuses?</vt:lpstr>
      <vt:lpstr>Which staff member handled the most stays?</vt:lpstr>
      <vt:lpstr>Overall Key Findings</vt:lpstr>
      <vt:lpstr>Business Recommendations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srujana sri uppu</cp:lastModifiedBy>
  <cp:revision>2</cp:revision>
  <dcterms:created xsi:type="dcterms:W3CDTF">2021-02-16T05:19:01Z</dcterms:created>
  <dcterms:modified xsi:type="dcterms:W3CDTF">2026-09-08T09:34:42Z</dcterms:modified>
</cp:coreProperties>
</file>